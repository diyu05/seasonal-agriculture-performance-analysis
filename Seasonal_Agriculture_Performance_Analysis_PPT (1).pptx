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7" r:id="rId26"/>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 Id="rId26"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4667" y="3583914"/>
            <a:ext cx="4200000" cy="861497"/>
          </a:xfrm>
        </p:spPr>
        <p:txBody>
          <a:bodyPr vert="horz" lIns="91440" tIns="45720" rIns="91440" bIns="45720" rtlCol="0" anchor="t">
            <a:normAutofit/>
          </a:bodyPr>
          <a:lstStyle/>
          <a:p>
            <a:pPr algn="l"/>
            <a:r>
              <a:rPr lang="en-US" b="0" dirty="0" sz="1600">
                <a:solidFill>
                  <a:schemeClr val="tx1"/>
                </a:solidFill>
              </a:rPr>
              <a:t>Prateek Kacharu Dhole</a:t>
            </a:r>
            <a:endParaRPr lang="en-IN" b="0" dirty="0">
              <a:solidFill>
                <a:schemeClr val="tx1"/>
              </a:solidFill>
            </a:endParaRPr>
          </a:p>
          <a:p>
            <a:pPr algn="l"/>
            <a:r>
              <a:rPr lang="en-US" b="0" dirty="0" sz="1600">
                <a:solidFill>
                  <a:schemeClr val="tx1"/>
                </a:solidFill>
              </a:rPr>
              <a:t>SSR College of Arts, Commerce and Science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STU682ad5397d75b1747637561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850000" cy="5000000"/>
          </a:xfrm>
        </p:spPr>
        <p:txBody>
          <a:bodyPr>
            <a:normAutofit fontScale="90000"/>
          </a:bodyPr>
          <a:lstStyle/>
          <a:p>
            <a:r>
              <a:rPr lang="en-GB" dirty="0" sz="3200" b="1"/>
              <a:t>Project Description</a:t>
            </a:r>
            <a:br>
              <a:rPr lang="en-GB" dirty="0"/>
            </a:br>
            <a:r>
              <a:rPr lang="en-GB" dirty="0"/>
              <a:t/>
            </a:r>
            <a:br>
              <a:rPr lang="en-GB" dirty="0"/>
            </a:br>
            <a:endParaRPr lang="en-IN" dirty="0"/>
          </a:p>
          <a:p>
            <a:pPr algn="just">
              <a:lnSpc>
                <a:spcPct val="125000"/>
              </a:lnSpc>
            </a:pPr>
            <a:r>
              <a:rPr sz="1600" b="0" i="0">
                <a:solidFill>
                  <a:srgbClr val="404040"/>
                </a:solidFill>
              </a:rPr>
              <a:t>This project analyzes seasonal agricultural performance using a dataset of 4,000 farm records spanning the Kharif, Rabi, and Zaid seasons across 8 Indian states and 8 crop types. It covers environmental conditions (rainfall, temperature, humidity, soil health), farming inputs (fertilizer, pesticide, irrigation) and economic outcomes (yield, cost, revenue, profit).</a:t>
            </a:r>
          </a:p>
          <a:p>
            <a:pPr algn="just">
              <a:lnSpc>
                <a:spcPct val="125000"/>
              </a:lnSpc>
            </a:pPr>
            <a:r>
              <a:rPr sz="1600" b="0" i="0">
                <a:solidFill>
                  <a:srgbClr val="404040"/>
                </a:solidFill>
              </a:rPr>
              <a:t>The analysis followed a structured data analytics workflow: data cleaning (handling missing values in rainfall, soil moisture and yield using season-wise medians), exploratory data analysis, and statistical hypothesis testing (one-way ANOVA) to validate seasonal differences. Six independently developed analytical questions guided the investigation into profitability, yield drivers, crop economics, input-output relationships, pest risk, and regional patterns. Findings were visualized using boxplots, bar charts, scatter plots and heatmaps, each supported by data-driven interpretation and actionable recommendations for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nSpc>
                <a:spcPct val="130000"/>
              </a:lnSpc>
            </a:pPr>
            <a:r>
              <a:rPr sz="2000" b="0" i="0">
                <a:solidFill>
                  <a:srgbClr val="404040"/>
                </a:solidFill>
              </a:rPr>
              <a:t>Farmers and agricultural cooperatives — for crop and season planning decisions</a:t>
            </a:r>
            <a:endParaRPr lang="en-IN" sz="3600" dirty="0"/>
          </a:p>
          <a:p>
            <a:pPr>
              <a:lnSpc>
                <a:spcPct val="130000"/>
              </a:lnSpc>
            </a:pPr>
            <a:r>
              <a:rPr sz="2000" b="0" i="0">
                <a:solidFill>
                  <a:srgbClr val="404040"/>
                </a:solidFill>
              </a:rPr>
              <a:t>State agriculture departments — for policy-making and resource allocation</a:t>
            </a:r>
          </a:p>
          <a:p>
            <a:pPr>
              <a:lnSpc>
                <a:spcPct val="130000"/>
              </a:lnSpc>
            </a:pPr>
            <a:r>
              <a:rPr sz="2000" b="0" i="0">
                <a:solidFill>
                  <a:srgbClr val="404040"/>
                </a:solidFill>
              </a:rPr>
              <a:t>Agri-business and crop insurance companies — for seasonal risk assessment</a:t>
            </a:r>
          </a:p>
          <a:p>
            <a:pPr>
              <a:lnSpc>
                <a:spcPct val="130000"/>
              </a:lnSpc>
            </a:pPr>
            <a:r>
              <a:rPr sz="2000" b="0" i="0">
                <a:solidFill>
                  <a:srgbClr val="404040"/>
                </a:solidFill>
              </a:rPr>
              <a:t>Agronomists and researchers — to guide further seasonal studies</a:t>
            </a:r>
          </a:p>
          <a:p>
            <a:pPr>
              <a:lnSpc>
                <a:spcPct val="130000"/>
              </a:lnSpc>
            </a:pPr>
            <a:r>
              <a:rPr sz="2000" b="0" i="0">
                <a:solidFill>
                  <a:srgbClr val="404040"/>
                </a:solidFill>
              </a:rPr>
              <a:t>Financial institutions — to inform lending decisions for seasonal farming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250000"/>
            <a:ext cx="7500000" cy="4000000"/>
          </a:xfrm>
        </p:spPr>
        <p:txBody>
          <a:bodyPr/>
          <a:lstStyle/>
          <a:p>
            <a:pPr>
              <a:lnSpc>
                <a:spcPct val="130000"/>
              </a:lnSpc>
            </a:pPr>
            <a:r>
              <a:rPr sz="2000" b="0" i="0">
                <a:solidFill>
                  <a:srgbClr val="404040"/>
                </a:solidFill>
              </a:rPr>
              <a:t>Python — core programming language</a:t>
            </a:r>
            <a:endParaRPr lang="en-IN" dirty="0"/>
          </a:p>
          <a:p>
            <a:pPr>
              <a:lnSpc>
                <a:spcPct val="130000"/>
              </a:lnSpc>
            </a:pPr>
            <a:r>
              <a:rPr sz="2000" b="0" i="0">
                <a:solidFill>
                  <a:srgbClr val="404040"/>
                </a:solidFill>
              </a:rPr>
              <a:t>Jupyter Notebook — analysis environment</a:t>
            </a:r>
          </a:p>
          <a:p>
            <a:pPr>
              <a:lnSpc>
                <a:spcPct val="130000"/>
              </a:lnSpc>
            </a:pPr>
            <a:r>
              <a:rPr sz="2000" b="0" i="0">
                <a:solidFill>
                  <a:srgbClr val="404040"/>
                </a:solidFill>
              </a:rPr>
              <a:t>pandas &amp; NumPy — data cleaning &amp; aggregation</a:t>
            </a:r>
          </a:p>
          <a:p>
            <a:pPr>
              <a:lnSpc>
                <a:spcPct val="130000"/>
              </a:lnSpc>
            </a:pPr>
            <a:r>
              <a:rPr sz="2000" b="0" i="0">
                <a:solidFill>
                  <a:srgbClr val="404040"/>
                </a:solidFill>
              </a:rPr>
              <a:t>Matplotlib &amp; Seaborn — data visualization</a:t>
            </a:r>
          </a:p>
          <a:p>
            <a:pPr>
              <a:lnSpc>
                <a:spcPct val="130000"/>
              </a:lnSpc>
            </a:pPr>
            <a:r>
              <a:rPr sz="2000" b="0" i="0">
                <a:solidFill>
                  <a:srgbClr val="404040"/>
                </a:solidFill>
              </a:rPr>
              <a:t>One-way ANOVA — statistical significance testing</a:t>
            </a:r>
          </a:p>
          <a:p>
            <a:pPr>
              <a:lnSpc>
                <a:spcPct val="130000"/>
              </a:lnSpc>
            </a:pPr>
            <a:r>
              <a:rPr sz="2000" b="0" i="0">
                <a:solidFill>
                  <a:srgbClr val="404040"/>
                </a:solidFill>
              </a:rPr>
              <a:t>GitHub — version control &amp;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700000" y="1150000"/>
            <a:ext cx="10792000" cy="500000"/>
          </a:xfrm>
          <a:prstGeom prst="rect">
            <a:avLst/>
          </a:prstGeom>
          <a:noFill/>
        </p:spPr>
        <p:txBody>
          <a:bodyPr wrap="square">
            <a:spAutoFit/>
          </a:bodyPr>
          <a:lstStyle/>
          <a:p>
            <a:r>
              <a:rPr sz="2000" b="1">
                <a:solidFill>
                  <a:srgbClr val="1D3A5F"/>
                </a:solidFill>
              </a:rPr>
              <a:t>Q1: Profitability Varies Significantly Across Seasons</a:t>
            </a:r>
          </a:p>
        </p:txBody>
      </p:sp>
      <p:pic>
        <p:nvPicPr>
          <p:cNvPr id="25" name="Picture 24" descr="chart1_profit_boxplot.png"/>
          <p:cNvPicPr>
            <a:picLocks noChangeAspect="1"/>
          </p:cNvPicPr>
          <p:nvPr/>
        </p:nvPicPr>
        <p:blipFill>
          <a:blip r:embed="rId3"/>
          <a:stretch>
            <a:fillRect/>
          </a:stretch>
        </p:blipFill>
        <p:spPr>
          <a:xfrm>
            <a:off x="3077818" y="1750000"/>
            <a:ext cx="6036363" cy="4150000"/>
          </a:xfrm>
          <a:prstGeom prst="rect">
            <a:avLst/>
          </a:prstGeom>
        </p:spPr>
      </p:pic>
      <p:sp>
        <p:nvSpPr>
          <p:cNvPr id="26" name="TextBox 25"/>
          <p:cNvSpPr txBox="1"/>
          <p:nvPr/>
        </p:nvSpPr>
        <p:spPr>
          <a:xfrm>
            <a:off x="700000" y="6000000"/>
            <a:ext cx="10792000" cy="430000"/>
          </a:xfrm>
          <a:prstGeom prst="rect">
            <a:avLst/>
          </a:prstGeom>
          <a:noFill/>
        </p:spPr>
        <p:txBody>
          <a:bodyPr wrap="square">
            <a:spAutoFit/>
          </a:bodyPr>
          <a:lstStyle/>
          <a:p>
            <a:pPr algn="ctr"/>
            <a:r>
              <a:rPr sz="1300" i="1">
                <a:solidFill>
                  <a:srgbClr val="404040"/>
                </a:solidFill>
              </a:rPr>
              <a:t>Kharif is the most profitable season (median profit ₹38,808); Zaid shows losses for most farms (ANOVA F=34.29, statistically significant).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700000" y="1150000"/>
            <a:ext cx="10792000" cy="500000"/>
          </a:xfrm>
        </p:spPr>
        <p:txBody>
          <a:bodyPr/>
          <a:lstStyle/>
          <a:p>
            <a:pPr marL="0" indent="0" algn="l">
              <a:buNone/>
            </a:pPr>
            <a:r>
              <a:rPr lang="en-US" dirty="0" sz="2000" b="1">
                <a:solidFill>
                  <a:srgbClr val="1D3A5F"/>
                </a:solidFill>
              </a:rPr>
              <a:t>Q2: Yield is Driven by Rainfall, Not Just Season</a:t>
            </a:r>
            <a:endParaRPr lang="en-IN" dirty="0"/>
          </a:p>
        </p:txBody>
      </p:sp>
      <p:pic>
        <p:nvPicPr>
          <p:cNvPr id="31" name="Picture 30" descr="chart2_yield_rainfall_temp.png"/>
          <p:cNvPicPr>
            <a:picLocks noChangeAspect="1"/>
          </p:cNvPicPr>
          <p:nvPr/>
        </p:nvPicPr>
        <p:blipFill>
          <a:blip r:embed="rId3"/>
          <a:stretch>
            <a:fillRect/>
          </a:stretch>
        </p:blipFill>
        <p:spPr>
          <a:xfrm>
            <a:off x="700000" y="1957154"/>
            <a:ext cx="10792000" cy="3735692"/>
          </a:xfrm>
          <a:prstGeom prst="rect">
            <a:avLst/>
          </a:prstGeom>
        </p:spPr>
      </p:pic>
      <p:sp>
        <p:nvSpPr>
          <p:cNvPr id="32" name="TextBox 31"/>
          <p:cNvSpPr txBox="1"/>
          <p:nvPr/>
        </p:nvSpPr>
        <p:spPr>
          <a:xfrm>
            <a:off x="700000" y="6000000"/>
            <a:ext cx="10792000" cy="430000"/>
          </a:xfrm>
          <a:prstGeom prst="rect">
            <a:avLst/>
          </a:prstGeom>
          <a:noFill/>
        </p:spPr>
        <p:txBody>
          <a:bodyPr wrap="square">
            <a:spAutoFit/>
          </a:bodyPr>
          <a:lstStyle/>
          <a:p>
            <a:pPr algn="ctr"/>
            <a:r>
              <a:rPr sz="1300" i="1">
                <a:solidFill>
                  <a:srgbClr val="404040"/>
                </a:solidFill>
              </a:rPr>
              <a:t>Kharif has the highest rainfall (852mm) and yield (5.63 t/ha); Zaid's low rainfall (299mm) and heat (31°C) limit yield (4.64 t/ha).</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00000" y="1150000"/>
            <a:ext cx="10792000" cy="500000"/>
          </a:xfrm>
        </p:spPr>
        <p:txBody>
          <a:bodyPr/>
          <a:lstStyle/>
          <a:p>
            <a:pPr marL="0" indent="0" algn="l">
              <a:buNone/>
            </a:pPr>
            <a:r>
              <a:rPr lang="en-US" dirty="0" sz="2000" b="1">
                <a:solidFill>
                  <a:srgbClr val="1D3A5F"/>
                </a:solidFill>
              </a:rPr>
              <a:t>Q3: Cash Crops Outperform Staple Crops in Every Season</a:t>
            </a:r>
            <a:endParaRPr lang="en-IN" dirty="0"/>
          </a:p>
        </p:txBody>
      </p:sp>
      <p:pic>
        <p:nvPicPr>
          <p:cNvPr id="31" name="Picture 30" descr="chart3_crop_profit.png"/>
          <p:cNvPicPr>
            <a:picLocks noChangeAspect="1"/>
          </p:cNvPicPr>
          <p:nvPr/>
        </p:nvPicPr>
        <p:blipFill>
          <a:blip r:embed="rId3"/>
          <a:stretch>
            <a:fillRect/>
          </a:stretch>
        </p:blipFill>
        <p:spPr>
          <a:xfrm>
            <a:off x="1946000" y="1750000"/>
            <a:ext cx="8300000" cy="4150000"/>
          </a:xfrm>
          <a:prstGeom prst="rect">
            <a:avLst/>
          </a:prstGeom>
        </p:spPr>
      </p:pic>
      <p:sp>
        <p:nvSpPr>
          <p:cNvPr id="32" name="TextBox 31"/>
          <p:cNvSpPr txBox="1"/>
          <p:nvPr/>
        </p:nvSpPr>
        <p:spPr>
          <a:xfrm>
            <a:off x="700000" y="6000000"/>
            <a:ext cx="10792000" cy="430000"/>
          </a:xfrm>
          <a:prstGeom prst="rect">
            <a:avLst/>
          </a:prstGeom>
          <a:noFill/>
        </p:spPr>
        <p:txBody>
          <a:bodyPr wrap="square">
            <a:spAutoFit/>
          </a:bodyPr>
          <a:lstStyle/>
          <a:p>
            <a:pPr algn="ctr"/>
            <a:r>
              <a:rPr sz="1300" i="1">
                <a:solidFill>
                  <a:srgbClr val="404040"/>
                </a:solidFill>
              </a:rPr>
              <a:t>Sugarcane and Chilli are consistently the most profitable crops; Wheat, Rice and Maize show thin or negative margins across all seasons.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00000" y="1150000"/>
            <a:ext cx="10792000" cy="500000"/>
          </a:xfrm>
        </p:spPr>
        <p:txBody>
          <a:bodyPr/>
          <a:lstStyle/>
          <a:p>
            <a:pPr marL="0" indent="0" algn="l">
              <a:buNone/>
            </a:pPr>
            <a:r>
              <a:rPr lang="en-US" dirty="0" sz="2000" b="1">
                <a:solidFill>
                  <a:srgbClr val="1D3A5F"/>
                </a:solidFill>
              </a:rPr>
              <a:t>Q4: Fertilizer/Pesticide Usage Shows No Link to Yield</a:t>
            </a:r>
            <a:endParaRPr lang="en-IN" dirty="0"/>
          </a:p>
        </p:txBody>
      </p:sp>
      <p:pic>
        <p:nvPicPr>
          <p:cNvPr id="31" name="Picture 30" descr="chart4_fertilizer_pesticide.png"/>
          <p:cNvPicPr>
            <a:picLocks noChangeAspect="1"/>
          </p:cNvPicPr>
          <p:nvPr/>
        </p:nvPicPr>
        <p:blipFill>
          <a:blip r:embed="rId3"/>
          <a:stretch>
            <a:fillRect/>
          </a:stretch>
        </p:blipFill>
        <p:spPr>
          <a:xfrm>
            <a:off x="1116000" y="1750000"/>
            <a:ext cx="9960000" cy="4150000"/>
          </a:xfrm>
          <a:prstGeom prst="rect">
            <a:avLst/>
          </a:prstGeom>
        </p:spPr>
      </p:pic>
      <p:sp>
        <p:nvSpPr>
          <p:cNvPr id="32" name="TextBox 31"/>
          <p:cNvSpPr txBox="1"/>
          <p:nvPr/>
        </p:nvSpPr>
        <p:spPr>
          <a:xfrm>
            <a:off x="700000" y="6000000"/>
            <a:ext cx="10792000" cy="430000"/>
          </a:xfrm>
          <a:prstGeom prst="rect">
            <a:avLst/>
          </a:prstGeom>
          <a:noFill/>
        </p:spPr>
        <p:txBody>
          <a:bodyPr wrap="square">
            <a:spAutoFit/>
          </a:bodyPr>
          <a:lstStyle/>
          <a:p>
            <a:pPr algn="ctr"/>
            <a:r>
              <a:rPr sz="1300" i="1">
                <a:solidFill>
                  <a:srgbClr val="404040"/>
                </a:solidFill>
              </a:rPr>
              <a:t>Correlations are near zero (-0.03 to +0.03) in every season — yield appears driven more by environment than input intensity.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00000" y="1150000"/>
            <a:ext cx="10792000" cy="500000"/>
          </a:xfrm>
        </p:spPr>
        <p:txBody>
          <a:bodyPr/>
          <a:lstStyle/>
          <a:p>
            <a:pPr marL="0" indent="0" algn="l">
              <a:buNone/>
            </a:pPr>
            <a:r>
              <a:rPr lang="en-US" dirty="0" sz="2000" b="1">
                <a:solidFill>
                  <a:srgbClr val="1D3A5F"/>
                </a:solidFill>
              </a:rPr>
              <a:t>Q5: Pest Risk Moves With Favorable Conditions, Not Against Yield</a:t>
            </a:r>
            <a:endParaRPr lang="en-IN" dirty="0"/>
          </a:p>
        </p:txBody>
      </p:sp>
      <p:pic>
        <p:nvPicPr>
          <p:cNvPr id="31" name="Picture 30" descr="chart5_pest_yield.png"/>
          <p:cNvPicPr>
            <a:picLocks noChangeAspect="1"/>
          </p:cNvPicPr>
          <p:nvPr/>
        </p:nvPicPr>
        <p:blipFill>
          <a:blip r:embed="rId3"/>
          <a:stretch>
            <a:fillRect/>
          </a:stretch>
        </p:blipFill>
        <p:spPr>
          <a:xfrm>
            <a:off x="3077818" y="1750000"/>
            <a:ext cx="6036363" cy="4150000"/>
          </a:xfrm>
          <a:prstGeom prst="rect">
            <a:avLst/>
          </a:prstGeom>
        </p:spPr>
      </p:pic>
      <p:sp>
        <p:nvSpPr>
          <p:cNvPr id="32" name="TextBox 31"/>
          <p:cNvSpPr txBox="1"/>
          <p:nvPr/>
        </p:nvSpPr>
        <p:spPr>
          <a:xfrm>
            <a:off x="700000" y="6000000"/>
            <a:ext cx="10792000" cy="430000"/>
          </a:xfrm>
          <a:prstGeom prst="rect">
            <a:avLst/>
          </a:prstGeom>
          <a:noFill/>
        </p:spPr>
        <p:txBody>
          <a:bodyPr wrap="square">
            <a:spAutoFit/>
          </a:bodyPr>
          <a:lstStyle/>
          <a:p>
            <a:pPr algn="ctr"/>
            <a:r>
              <a:rPr sz="1300" i="1">
                <a:solidFill>
                  <a:srgbClr val="404040"/>
                </a:solidFill>
              </a:rPr>
              <a:t>Kharif has both the highest pest risk (54.5%) and highest yield — rainfall's benefit outweighs the added pest pressure.</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00000" y="1150000"/>
            <a:ext cx="10792000" cy="500000"/>
          </a:xfrm>
        </p:spPr>
        <p:txBody>
          <a:bodyPr/>
          <a:lstStyle/>
          <a:p>
            <a:pPr marL="0" indent="0" algn="l">
              <a:buNone/>
            </a:pPr>
            <a:r>
              <a:rPr lang="en-US" dirty="0" sz="2000" b="1">
                <a:solidFill>
                  <a:srgbClr val="1D3A5F"/>
                </a:solidFill>
              </a:rPr>
              <a:t>Q6: Most States Follow the Seasonal Pattern, With Exceptions</a:t>
            </a:r>
            <a:endParaRPr lang="en-IN" dirty="0"/>
          </a:p>
        </p:txBody>
      </p:sp>
      <p:pic>
        <p:nvPicPr>
          <p:cNvPr id="31" name="Picture 30" descr="chart6_state_heatmap.png"/>
          <p:cNvPicPr>
            <a:picLocks noChangeAspect="1"/>
          </p:cNvPicPr>
          <p:nvPr/>
        </p:nvPicPr>
        <p:blipFill>
          <a:blip r:embed="rId3"/>
          <a:stretch>
            <a:fillRect/>
          </a:stretch>
        </p:blipFill>
        <p:spPr>
          <a:xfrm>
            <a:off x="3542154" y="1750000"/>
            <a:ext cx="5107692" cy="4150000"/>
          </a:xfrm>
          <a:prstGeom prst="rect">
            <a:avLst/>
          </a:prstGeom>
        </p:spPr>
      </p:pic>
      <p:sp>
        <p:nvSpPr>
          <p:cNvPr id="32" name="TextBox 31"/>
          <p:cNvSpPr txBox="1"/>
          <p:nvPr/>
        </p:nvSpPr>
        <p:spPr>
          <a:xfrm>
            <a:off x="700000" y="6000000"/>
            <a:ext cx="10792000" cy="430000"/>
          </a:xfrm>
          <a:prstGeom prst="rect">
            <a:avLst/>
          </a:prstGeom>
          <a:noFill/>
        </p:spPr>
        <p:txBody>
          <a:bodyPr wrap="square">
            <a:spAutoFit/>
          </a:bodyPr>
          <a:lstStyle/>
          <a:p>
            <a:pPr algn="ctr"/>
            <a:r>
              <a:rPr sz="1300" i="1">
                <a:solidFill>
                  <a:srgbClr val="404040"/>
                </a:solidFill>
              </a:rPr>
              <a:t>Punjab, Karnataka and Madhya Pradesh stay profitable even in Zaid season, unlike most other states — pointing to irrigation as a key factor.</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60399" y="1250000"/>
            <a:ext cx="10792000" cy="48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lnSpc>
                <a:spcPct val="125000"/>
              </a:lnSpc>
            </a:pPr>
            <a:r>
              <a:rPr sz="1900">
                <a:solidFill>
                  <a:srgbClr val="404040"/>
                </a:solidFill>
              </a:rPr>
              <a:t>•  Incorporate multi-year data to validate whether seasonal trends hold consistently over time</a:t>
            </a:r>
            <a:endParaRPr lang="en-GB" sz="2000" dirty="0"/>
          </a:p>
          <a:p>
            <a:pPr algn="l">
              <a:lnSpc>
                <a:spcPct val="125000"/>
              </a:lnSpc>
            </a:pPr>
            <a:r>
              <a:rPr sz="1900">
                <a:solidFill>
                  <a:srgbClr val="404040"/>
                </a:solidFill>
              </a:rPr>
              <a:t>•  Build a predictive model (e.g., regression) to forecast yield and profit from season and input data</a:t>
            </a:r>
          </a:p>
          <a:p>
            <a:pPr algn="l">
              <a:lnSpc>
                <a:spcPct val="125000"/>
              </a:lnSpc>
            </a:pPr>
            <a:r>
              <a:rPr sz="1900">
                <a:solidFill>
                  <a:srgbClr val="404040"/>
                </a:solidFill>
              </a:rPr>
              <a:t>•  Develop an interactive dashboard for real-time seasonal monitoring by farmers and planners</a:t>
            </a:r>
          </a:p>
          <a:p>
            <a:pPr algn="l">
              <a:lnSpc>
                <a:spcPct val="125000"/>
              </a:lnSpc>
            </a:pPr>
            <a:r>
              <a:rPr sz="1900">
                <a:solidFill>
                  <a:srgbClr val="404040"/>
                </a:solidFill>
              </a:rPr>
              <a:t>•  Extend the analysis to district-level granularity for more localized recommendations</a:t>
            </a:r>
          </a:p>
          <a:p>
            <a:pPr algn="l">
              <a:lnSpc>
                <a:spcPct val="125000"/>
              </a:lnSpc>
            </a:pPr>
            <a:r>
              <a:rPr sz="1900">
                <a:solidFill>
                  <a:srgbClr val="404040"/>
                </a:solidFill>
              </a:rPr>
              <a:t>•  Study irrigation practices in resilient Zaid-season states (Punjab, Karnataka, MP) in greater depth</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[Paste your GitHub repository link here]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1.png"/>
          <p:cNvPicPr>
            <a:picLocks noChangeAspect="1"/>
          </p:cNvPicPr>
          <p:nvPr/>
        </p:nvPicPr>
        <p:blipFill>
          <a:blip r:embed="rId3"/>
          <a:stretch>
            <a:fillRect/>
          </a:stretch>
        </p:blipFill>
        <p:spPr>
          <a:xfrm>
            <a:off x="2631339" y="1250000"/>
            <a:ext cx="6929322" cy="49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